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9" r:id="rId10"/>
    <p:sldId id="265" r:id="rId11"/>
    <p:sldId id="266" r:id="rId12"/>
    <p:sldId id="270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4F54"/>
    <a:srgbClr val="C7DEDB"/>
    <a:srgbClr val="E9F6F4"/>
    <a:srgbClr val="1C5762"/>
    <a:srgbClr val="8FE6DC"/>
    <a:srgbClr val="045459"/>
    <a:srgbClr val="1A8F8A"/>
    <a:srgbClr val="A8DC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0881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A81AC3-8B6F-C9CC-BE2A-825BC17698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DBC6A7-794D-56B7-A4B3-360E44896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98996C-3782-76F3-026B-6A0516FCF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C288A-8689-73B3-61DF-0AF4F68FD5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558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" y="0"/>
            <a:ext cx="483081" cy="6858000"/>
          </a:xfrm>
          <a:prstGeom prst="rect">
            <a:avLst/>
          </a:prstGeom>
          <a:solidFill>
            <a:srgbClr val="A8DCD5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3" name="Image 0" descr="Holon Institute of Technology logo"/>
          <p:cNvPicPr>
            <a:picLocks noChangeAspect="1"/>
          </p:cNvPicPr>
          <p:nvPr/>
        </p:nvPicPr>
        <p:blipFill>
          <a:blip r:embed="rId3"/>
          <a:srcRect l="-10" r="-10"/>
          <a:stretch/>
        </p:blipFill>
        <p:spPr>
          <a:xfrm>
            <a:off x="10227876" y="236973"/>
            <a:ext cx="1587500" cy="977883"/>
          </a:xfrm>
          <a:prstGeom prst="rect">
            <a:avLst/>
          </a:prstGeom>
        </p:spPr>
      </p:pic>
      <p:pic>
        <p:nvPicPr>
          <p:cNvPr id="4" name="Image 1" descr="Assuta Ramat HaHayal Medical Center logo"/>
          <p:cNvPicPr>
            <a:picLocks noChangeAspect="1"/>
          </p:cNvPicPr>
          <p:nvPr/>
        </p:nvPicPr>
        <p:blipFill>
          <a:blip r:embed="rId4"/>
          <a:srcRect t="-187" b="-187"/>
          <a:stretch/>
        </p:blipFill>
        <p:spPr>
          <a:xfrm>
            <a:off x="9973876" y="1367240"/>
            <a:ext cx="1841500" cy="35553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267426" y="609534"/>
            <a:ext cx="5883211" cy="387284"/>
          </a:xfrm>
          <a:prstGeom prst="roundRect">
            <a:avLst>
              <a:gd name="adj" fmla="val 50000"/>
            </a:avLst>
          </a:prstGeom>
          <a:solidFill>
            <a:srgbClr val="A8DCD5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2"/>
          <p:cNvSpPr/>
          <p:nvPr/>
        </p:nvSpPr>
        <p:spPr>
          <a:xfrm>
            <a:off x="531487" y="692084"/>
            <a:ext cx="5467807" cy="24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b="1" kern="0" spc="75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B.SC. FINAL PROJECT · DIGITAL MEDICAL TECHNOLOGIES · HIT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488576" y="3077272"/>
            <a:ext cx="7848600" cy="3276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A multimodal ML + NLP framework for early infection risk</a:t>
            </a:r>
            <a:endParaRPr lang="en-US" sz="1700" b="1" dirty="0"/>
          </a:p>
        </p:txBody>
      </p:sp>
      <p:sp>
        <p:nvSpPr>
          <p:cNvPr id="11" name="Text 7"/>
          <p:cNvSpPr/>
          <p:nvPr/>
        </p:nvSpPr>
        <p:spPr>
          <a:xfrm>
            <a:off x="612179" y="3968964"/>
            <a:ext cx="1268383" cy="3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26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Tal Meillet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12179" y="4352527"/>
            <a:ext cx="1268383" cy="247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I.D. 209966019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558864" y="3962712"/>
            <a:ext cx="2672484" cy="3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26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Hodaya Yasayev Klenter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2572375" y="4352524"/>
            <a:ext cx="13526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I.D. 323856757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12179" y="5146476"/>
            <a:ext cx="5624719" cy="6269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dirty="0">
                <a:latin typeface="IBM Plex Sans" panose="020B0503050203000203" pitchFamily="34" charset="0"/>
                <a:ea typeface="IBM Plex Sans" pitchFamily="34" charset="-122"/>
                <a:cs typeface="IBM Plex Sans" pitchFamily="34" charset="-120"/>
              </a:rPr>
              <a:t>Academic supervisors</a:t>
            </a:r>
            <a:r>
              <a:rPr lang="en-US" sz="1600" dirty="0">
                <a:latin typeface="IBM Plex Sans" panose="020B0503050203000203" pitchFamily="34" charset="0"/>
              </a:rPr>
              <a:t>: </a:t>
            </a:r>
            <a:r>
              <a:rPr lang="en-US" sz="1600" dirty="0">
                <a:latin typeface="IBM Plex Sans" panose="020B0503050203000203" pitchFamily="34" charset="0"/>
                <a:ea typeface="IBM Plex Sans" pitchFamily="34" charset="-122"/>
                <a:cs typeface="IBM Plex Sans" pitchFamily="34" charset="-120"/>
              </a:rPr>
              <a:t>Dr. Ayelet Butman · Dr. Revital Marbel</a:t>
            </a:r>
          </a:p>
          <a:p>
            <a:pPr marL="0" indent="0" algn="l">
              <a:lnSpc>
                <a:spcPts val="1680"/>
              </a:lnSpc>
              <a:buNone/>
            </a:pPr>
            <a:endParaRPr lang="en-US" sz="1600" dirty="0">
              <a:latin typeface="IBM Plex Sans" panose="020B0503050203000203" pitchFamily="34" charset="0"/>
              <a:ea typeface="IBM Plex Sans" pitchFamily="34" charset="-122"/>
              <a:cs typeface="IBM Plex Sans" pitchFamily="34" charset="-120"/>
            </a:endParaRPr>
          </a:p>
          <a:p>
            <a:pPr>
              <a:lnSpc>
                <a:spcPts val="1680"/>
              </a:lnSpc>
            </a:pPr>
            <a:r>
              <a:rPr lang="en-US" sz="1600" dirty="0">
                <a:latin typeface="IBM Plex Sans" panose="020B0503050203000203" pitchFamily="34" charset="0"/>
                <a:ea typeface="IBM Plex Sans" pitchFamily="34" charset="-122"/>
                <a:cs typeface="IBM Plex Sans" pitchFamily="34" charset="-120"/>
              </a:rPr>
              <a:t>Clinical supervisor</a:t>
            </a:r>
            <a:r>
              <a:rPr lang="en-US" sz="1600" dirty="0">
                <a:latin typeface="IBM Plex Sans" panose="020B0503050203000203" pitchFamily="34" charset="0"/>
              </a:rPr>
              <a:t>: </a:t>
            </a:r>
            <a:r>
              <a:rPr lang="en-US" sz="1600" dirty="0">
                <a:latin typeface="IBM Plex Sans" panose="020B0503050203000203" pitchFamily="34" charset="0"/>
                <a:ea typeface="IBM Plex Sans" pitchFamily="34" charset="-122"/>
                <a:cs typeface="IBM Plex Sans" pitchFamily="34" charset="-120"/>
              </a:rPr>
              <a:t>Dr. Manor </a:t>
            </a:r>
            <a:r>
              <a:rPr lang="en-US" sz="1600" dirty="0" err="1">
                <a:latin typeface="IBM Plex Sans" panose="020B0503050203000203" pitchFamily="34" charset="0"/>
                <a:ea typeface="IBM Plex Sans" pitchFamily="34" charset="-122"/>
                <a:cs typeface="IBM Plex Sans" pitchFamily="34" charset="-120"/>
              </a:rPr>
              <a:t>Shpriz</a:t>
            </a:r>
            <a:r>
              <a:rPr lang="en-US" sz="1600" dirty="0">
                <a:latin typeface="IBM Plex Sans" panose="020B0503050203000203" pitchFamily="34" charset="0"/>
                <a:ea typeface="IBM Plex Sans" pitchFamily="34" charset="-122"/>
                <a:cs typeface="IBM Plex Sans" pitchFamily="34" charset="-120"/>
              </a:rPr>
              <a:t>- </a:t>
            </a:r>
            <a:r>
              <a:rPr lang="en-US" sz="1600" dirty="0" err="1">
                <a:latin typeface="IBM Plex Sans" panose="020B0503050203000203" pitchFamily="34" charset="0"/>
                <a:ea typeface="IBM Plex Sans" pitchFamily="34" charset="-122"/>
                <a:cs typeface="IBM Plex Sans" pitchFamily="34" charset="-120"/>
              </a:rPr>
              <a:t>Assuta</a:t>
            </a:r>
            <a:r>
              <a:rPr lang="en-US" sz="1600" dirty="0">
                <a:latin typeface="IBM Plex Sans" panose="020B0503050203000203" pitchFamily="34" charset="0"/>
                <a:ea typeface="IBM Plex Sans" pitchFamily="34" charset="-122"/>
                <a:cs typeface="IBM Plex Sans" pitchFamily="34" charset="-120"/>
              </a:rPr>
              <a:t> Ramat </a:t>
            </a:r>
            <a:r>
              <a:rPr lang="en-US" sz="1600" dirty="0" err="1">
                <a:latin typeface="IBM Plex Sans" panose="020B0503050203000203" pitchFamily="34" charset="0"/>
                <a:ea typeface="IBM Plex Sans" pitchFamily="34" charset="-122"/>
                <a:cs typeface="IBM Plex Sans" pitchFamily="34" charset="-120"/>
              </a:rPr>
              <a:t>HaHayal</a:t>
            </a:r>
            <a:endParaRPr lang="en-US" sz="1600" dirty="0">
              <a:latin typeface="IBM Plex Sans" panose="020B0503050203000203" pitchFamily="34" charset="0"/>
            </a:endParaRPr>
          </a:p>
          <a:p>
            <a:pPr marL="0" indent="0" algn="l">
              <a:lnSpc>
                <a:spcPts val="1680"/>
              </a:lnSpc>
              <a:buNone/>
            </a:pPr>
            <a:endParaRPr lang="en-US" sz="1600" dirty="0">
              <a:latin typeface="IBM Plex Sans" panose="020B050305020300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10FFF9-397C-AD6D-6BA1-EECB7540B999}"/>
              </a:ext>
            </a:extLst>
          </p:cNvPr>
          <p:cNvSpPr txBox="1"/>
          <p:nvPr/>
        </p:nvSpPr>
        <p:spPr>
          <a:xfrm>
            <a:off x="488576" y="1354568"/>
            <a:ext cx="927652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rgbClr val="045459"/>
                </a:solidFill>
                <a:latin typeface="Source Serif 4"/>
              </a:rPr>
              <a:t>Predicting Infections during hospitalization among postsurgical patients</a:t>
            </a:r>
            <a:endParaRPr lang="en-IL" sz="4000" b="1" dirty="0">
              <a:solidFill>
                <a:srgbClr val="045459"/>
              </a:solidFill>
              <a:latin typeface="Source Serif 4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37D87A-062C-F1DD-F901-6681612A0CB8}"/>
              </a:ext>
            </a:extLst>
          </p:cNvPr>
          <p:cNvSpPr txBox="1"/>
          <p:nvPr/>
        </p:nvSpPr>
        <p:spPr>
          <a:xfrm>
            <a:off x="2009662" y="4160538"/>
            <a:ext cx="2825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latin typeface="IBM Plex Sans" pitchFamily="34" charset="0"/>
              </a:rPr>
              <a:t>&amp;</a:t>
            </a:r>
            <a:endParaRPr lang="en-IL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67" y="597113"/>
            <a:ext cx="10566466" cy="304767"/>
          </a:xfrm>
          <a:prstGeom prst="roundRect">
            <a:avLst>
              <a:gd name="adj" fmla="val 50000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952467" y="660613"/>
            <a:ext cx="10595678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kern="0" spc="75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CLINICAL BACKGROUND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67" y="1008015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631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Hospital-acquired infection: the clinical problem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42" y="2008550"/>
            <a:ext cx="3400822" cy="1787029"/>
          </a:xfrm>
          <a:prstGeom prst="roundRect">
            <a:avLst>
              <a:gd name="adj" fmla="val 5508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021209" y="2239201"/>
            <a:ext cx="3079996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1A8F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2-5%</a:t>
            </a:r>
            <a:endParaRPr lang="en-US" sz="3200" baseline="30000" dirty="0"/>
          </a:p>
        </p:txBody>
      </p:sp>
      <p:sp>
        <p:nvSpPr>
          <p:cNvPr id="7" name="Text 5"/>
          <p:cNvSpPr/>
          <p:nvPr/>
        </p:nvSpPr>
        <p:spPr>
          <a:xfrm>
            <a:off x="1021209" y="2833538"/>
            <a:ext cx="3283146" cy="97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820"/>
              </a:lnSpc>
            </a:pPr>
            <a:r>
              <a:rPr lang="en-US" sz="1300" b="1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operations develop a surgical-site infection - the most common hospital-acquired infection in surgical patients</a:t>
            </a:r>
            <a:r>
              <a:rPr lang="en-US" sz="1400" b="1" baseline="30000" dirty="0">
                <a:solidFill>
                  <a:srgbClr val="3A4F5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[1]</a:t>
            </a:r>
            <a:endParaRPr lang="en-US" sz="1300" b="1" dirty="0">
              <a:solidFill>
                <a:srgbClr val="3A4F54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4400881" y="2008550"/>
            <a:ext cx="3400822" cy="1787029"/>
          </a:xfrm>
          <a:prstGeom prst="roundRect">
            <a:avLst>
              <a:gd name="adj" fmla="val 5508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606148" y="2239201"/>
            <a:ext cx="3079996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4480"/>
              </a:lnSpc>
            </a:pPr>
            <a:r>
              <a:rPr lang="en-US" sz="3200" b="1" dirty="0">
                <a:solidFill>
                  <a:srgbClr val="1A8F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3.5-10B$</a:t>
            </a:r>
            <a:endParaRPr lang="en-US" sz="3200" baseline="30000" dirty="0"/>
          </a:p>
        </p:txBody>
      </p:sp>
      <p:sp>
        <p:nvSpPr>
          <p:cNvPr id="10" name="Text 8"/>
          <p:cNvSpPr/>
          <p:nvPr/>
        </p:nvSpPr>
        <p:spPr>
          <a:xfrm>
            <a:off x="4606148" y="2871638"/>
            <a:ext cx="3079996" cy="71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820"/>
              </a:lnSpc>
            </a:pPr>
            <a:r>
              <a:rPr lang="en-US" sz="1300" b="1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excess annual cost from SSIs in the US alone, affecting 160,000-300,000 patients a year</a:t>
            </a:r>
            <a:r>
              <a:rPr lang="en-US" sz="1400" b="1" baseline="30000" dirty="0">
                <a:solidFill>
                  <a:srgbClr val="3A4F54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[2]</a:t>
            </a:r>
            <a:endParaRPr lang="en-US" sz="1300" b="1" dirty="0">
              <a:solidFill>
                <a:srgbClr val="3A4F54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82645" y="2005375"/>
            <a:ext cx="3396588" cy="1793379"/>
          </a:xfrm>
          <a:prstGeom prst="roundRect">
            <a:avLst>
              <a:gd name="adj" fmla="val 5665"/>
            </a:avLst>
          </a:prstGeom>
          <a:solidFill>
            <a:srgbClr val="1C5762"/>
          </a:solidFill>
          <a:ln/>
        </p:spPr>
        <p:txBody>
          <a:bodyPr/>
          <a:lstStyle/>
          <a:p>
            <a:endParaRPr lang="en-IL" dirty="0"/>
          </a:p>
        </p:txBody>
      </p:sp>
      <p:sp>
        <p:nvSpPr>
          <p:cNvPr id="12" name="Text 10"/>
          <p:cNvSpPr/>
          <p:nvPr/>
        </p:nvSpPr>
        <p:spPr>
          <a:xfrm>
            <a:off x="8185795" y="2233909"/>
            <a:ext cx="3079996" cy="5943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8FE6D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</a:t>
            </a:r>
            <a:endParaRPr lang="en-US" sz="3200" baseline="30000" dirty="0"/>
          </a:p>
        </p:txBody>
      </p:sp>
      <p:sp>
        <p:nvSpPr>
          <p:cNvPr id="13" name="Text 11"/>
          <p:cNvSpPr/>
          <p:nvPr/>
        </p:nvSpPr>
        <p:spPr>
          <a:xfrm>
            <a:off x="8185795" y="2866346"/>
            <a:ext cx="3079996" cy="718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820"/>
              </a:lnSpc>
            </a:pPr>
            <a:r>
              <a:rPr lang="en-US" sz="1300" b="1" dirty="0">
                <a:solidFill>
                  <a:srgbClr val="C7D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national SSI surveillance programs in Israel - a 2022 survey found none in place</a:t>
            </a:r>
            <a:r>
              <a:rPr lang="en-US" sz="1400" b="1" baseline="30000" dirty="0">
                <a:solidFill>
                  <a:srgbClr val="C7DEDB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[3]</a:t>
            </a:r>
            <a:endParaRPr lang="en-US" sz="1300" b="1" dirty="0">
              <a:solidFill>
                <a:srgbClr val="C7DEDB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812767" y="4173091"/>
            <a:ext cx="9810750" cy="970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Detection today relies on manual chart review, backed by cultures that return results only days later - infection is usually confirmed only once it is already apparent. A risk score produced before symptoms appear would let a small IPC team focus on the patients who actually need it.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06383" y="6289145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20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83ED6FF7-D2CE-76B3-62EE-7F76921F7BAB}"/>
              </a:ext>
            </a:extLst>
          </p:cNvPr>
          <p:cNvSpPr/>
          <p:nvPr/>
        </p:nvSpPr>
        <p:spPr>
          <a:xfrm>
            <a:off x="812767" y="5891168"/>
            <a:ext cx="9810750" cy="630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IL" sz="900" b="1" dirty="0"/>
              <a:t>[1]</a:t>
            </a:r>
            <a:r>
              <a:rPr lang="en-IL" sz="900" dirty="0"/>
              <a:t> World Health Organization. </a:t>
            </a:r>
            <a:r>
              <a:rPr lang="en-IL" sz="900" i="1" dirty="0"/>
              <a:t>Global Guidelines for </a:t>
            </a:r>
            <a:r>
              <a:rPr lang="en-IL" sz="900" dirty="0"/>
              <a:t>the Prevention of Surgical Site Infection, 2nd ed. Geneva: WHO, 2018.</a:t>
            </a:r>
            <a:endParaRPr lang="en-US" sz="900" dirty="0"/>
          </a:p>
          <a:p>
            <a:r>
              <a:rPr lang="en-IL" sz="900" b="1" dirty="0"/>
              <a:t>[2] </a:t>
            </a:r>
            <a:r>
              <a:rPr lang="en-IL" sz="900" dirty="0"/>
              <a:t>Chakraborty A, et al. "Development and evaluation of machine learning models for the identification of surgical site infection in electronic health records." Surgical Infections 26, no. 7 (2025): 474.</a:t>
            </a:r>
            <a:endParaRPr lang="en-US" sz="900" dirty="0"/>
          </a:p>
          <a:p>
            <a:r>
              <a:rPr lang="en-IL" sz="900" b="1" dirty="0"/>
              <a:t>[3] </a:t>
            </a:r>
            <a:r>
              <a:rPr lang="en-IL" sz="900" dirty="0"/>
              <a:t>Najjar </a:t>
            </a:r>
            <a:r>
              <a:rPr lang="en-IL" sz="900" dirty="0" err="1"/>
              <a:t>Debbiny</a:t>
            </a:r>
            <a:r>
              <a:rPr lang="en-IL" sz="900" dirty="0"/>
              <a:t> R, et al. "Healthcare-associated infection prevention and control practices in Israel: results of a national survey." BMC Infectious Diseases 22 (2022): 739.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767" y="326526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631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research gap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5942" y="1301602"/>
            <a:ext cx="3400822" cy="2765243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021209" y="1532252"/>
            <a:ext cx="307999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A8F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21209" y="2060427"/>
            <a:ext cx="3079996" cy="482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Structured models generalize poorly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21209" y="2619029"/>
            <a:ext cx="3079996" cy="1216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Tabular models reach high in-sample accuracy, but external validation is almost entirely absent- and where it was attempted, discrimination dropped sharply.</a:t>
            </a:r>
            <a:r>
              <a:rPr lang="en-US" sz="1250" baseline="300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[4][5]</a:t>
            </a:r>
            <a:endParaRPr lang="en-US" sz="1250" baseline="30000" dirty="0"/>
          </a:p>
        </p:txBody>
      </p:sp>
      <p:sp>
        <p:nvSpPr>
          <p:cNvPr id="9" name="Shape 7"/>
          <p:cNvSpPr/>
          <p:nvPr/>
        </p:nvSpPr>
        <p:spPr>
          <a:xfrm>
            <a:off x="4400881" y="1301602"/>
            <a:ext cx="3400822" cy="2765243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4606148" y="1532252"/>
            <a:ext cx="307999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A8F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06148" y="2060427"/>
            <a:ext cx="3079996" cy="482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 helps - but the gain depends on how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06148" y="2619029"/>
            <a:ext cx="3079996" cy="1216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Clinical narrative carries diagnostic information structured fields omit, yet simple keyword counts add little: the size of the benefit is set by the text representation.</a:t>
            </a:r>
            <a:r>
              <a:rPr lang="en-US" sz="1250" baseline="300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[6][7]</a:t>
            </a:r>
            <a:endParaRPr lang="en-US" sz="1250" baseline="30000" dirty="0"/>
          </a:p>
        </p:txBody>
      </p:sp>
      <p:sp>
        <p:nvSpPr>
          <p:cNvPr id="13" name="Shape 11"/>
          <p:cNvSpPr/>
          <p:nvPr/>
        </p:nvSpPr>
        <p:spPr>
          <a:xfrm>
            <a:off x="7982645" y="1298427"/>
            <a:ext cx="3396588" cy="2771593"/>
          </a:xfrm>
          <a:prstGeom prst="roundRect">
            <a:avLst>
              <a:gd name="adj" fmla="val 3666"/>
            </a:avLst>
          </a:prstGeom>
          <a:solidFill>
            <a:srgbClr val="1C576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4" name="Text 12"/>
          <p:cNvSpPr/>
          <p:nvPr/>
        </p:nvSpPr>
        <p:spPr>
          <a:xfrm>
            <a:off x="8185795" y="1526961"/>
            <a:ext cx="307999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8FE6DC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85795" y="2055135"/>
            <a:ext cx="3079996" cy="482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1F7F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Hebrew multimodal SSI prediction is unexamined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85795" y="2613736"/>
            <a:ext cx="3079996" cy="1216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r>
              <a:rPr lang="en-IL" sz="1300" dirty="0">
                <a:solidFill>
                  <a:srgbClr val="CFE9E6"/>
                </a:solidFill>
                <a:latin typeface="IBM Plex Sans" pitchFamily="34" charset="0"/>
              </a:rPr>
              <a:t>Hebrew clinical NLP evidence is limited, and no prior work identified in our review addressed multimodal SSI prediction from Hebrew surgical notes</a:t>
            </a:r>
            <a:r>
              <a:rPr lang="en-US" sz="1250" dirty="0">
                <a:solidFill>
                  <a:srgbClr val="CFE9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; the one large-scale Hebrew NLP demonstration addressed community records, not surgery or infection.</a:t>
            </a:r>
            <a:r>
              <a:rPr lang="en-US" sz="1250" baseline="30000" dirty="0">
                <a:solidFill>
                  <a:srgbClr val="CFE9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[8]</a:t>
            </a:r>
            <a:endParaRPr lang="en-US" sz="1250" baseline="30000" dirty="0"/>
          </a:p>
        </p:txBody>
      </p:sp>
      <p:sp>
        <p:nvSpPr>
          <p:cNvPr id="17" name="Shape 15"/>
          <p:cNvSpPr/>
          <p:nvPr/>
        </p:nvSpPr>
        <p:spPr>
          <a:xfrm>
            <a:off x="812767" y="4324424"/>
            <a:ext cx="10566466" cy="939602"/>
          </a:xfrm>
          <a:prstGeom prst="roundRect">
            <a:avLst>
              <a:gd name="adj" fmla="val 10813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1066767" y="4527575"/>
            <a:ext cx="10360220" cy="558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C57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gap this project addresses:</a:t>
            </a:r>
            <a:r>
              <a:rPr lang="en-US" sz="1400" dirty="0">
                <a:solidFill>
                  <a:srgbClr val="1C57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one evaluated, leakage-controlled system combining structured EHR data with Hebrew free text- not two models reported separately.</a:t>
            </a:r>
            <a:endParaRPr lang="en-US" sz="1400" dirty="0">
              <a:solidFill>
                <a:srgbClr val="1C5762"/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406383" y="6289145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2">
            <a:extLst>
              <a:ext uri="{FF2B5EF4-FFF2-40B4-BE49-F238E27FC236}">
                <a16:creationId xmlns:a16="http://schemas.microsoft.com/office/drawing/2014/main" id="{2D5871F8-121F-D64D-E341-68ACADA05202}"/>
              </a:ext>
            </a:extLst>
          </p:cNvPr>
          <p:cNvSpPr/>
          <p:nvPr/>
        </p:nvSpPr>
        <p:spPr>
          <a:xfrm>
            <a:off x="640076" y="5721581"/>
            <a:ext cx="11428279" cy="7752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L" sz="900" b="1" dirty="0"/>
              <a:t>[</a:t>
            </a:r>
            <a:r>
              <a:rPr lang="en-US" sz="900" b="1" dirty="0"/>
              <a:t>4</a:t>
            </a:r>
            <a:r>
              <a:rPr lang="en-IL" sz="900" b="1" dirty="0"/>
              <a:t>]</a:t>
            </a:r>
            <a:r>
              <a:rPr lang="en-IL" sz="900" dirty="0"/>
              <a:t> </a:t>
            </a:r>
            <a:r>
              <a:rPr lang="en-IL" sz="900" dirty="0" err="1"/>
              <a:t>Ndjonko</a:t>
            </a:r>
            <a:r>
              <a:rPr lang="en-IL" sz="900" dirty="0"/>
              <a:t> LCM, et al. "Evaluating predictive performance and generalizability of traditional and artificial intelligence models in predicting surgical site infections post-spinal surgery: a systematic review." Spine Journal 26, no. 2 (2026): 280–291. </a:t>
            </a:r>
            <a:endParaRPr lang="en-US" sz="900" dirty="0"/>
          </a:p>
          <a:p>
            <a:r>
              <a:rPr lang="en-IL" sz="900" b="1" dirty="0"/>
              <a:t>[</a:t>
            </a:r>
            <a:r>
              <a:rPr lang="en-US" sz="900" b="1" dirty="0"/>
              <a:t>5</a:t>
            </a:r>
            <a:r>
              <a:rPr lang="en-IL" sz="900" b="1" dirty="0"/>
              <a:t>]</a:t>
            </a:r>
            <a:r>
              <a:rPr lang="en-IL" sz="900" dirty="0"/>
              <a:t> Cui Y, Shi X, Wang Q, et al. "Artificial intelligence-based prediction model for surgical site infection in metastatic spinal disease: a </a:t>
            </a:r>
            <a:r>
              <a:rPr lang="en-IL" sz="900" dirty="0" err="1"/>
              <a:t>multicenter</a:t>
            </a:r>
            <a:r>
              <a:rPr lang="en-IL" sz="900" dirty="0"/>
              <a:t> development and validation study." International Journal of Surgery (2025). </a:t>
            </a:r>
            <a:endParaRPr lang="en-US" sz="900" dirty="0"/>
          </a:p>
          <a:p>
            <a:r>
              <a:rPr lang="en-IL" sz="900" b="1" dirty="0"/>
              <a:t>[</a:t>
            </a:r>
            <a:r>
              <a:rPr lang="en-US" sz="900" b="1" dirty="0"/>
              <a:t>6</a:t>
            </a:r>
            <a:r>
              <a:rPr lang="en-IL" sz="900" b="1" dirty="0"/>
              <a:t>] </a:t>
            </a:r>
            <a:r>
              <a:rPr lang="en-US" sz="900" dirty="0"/>
              <a:t>Bonde A, et al. "Assessing the utility of deep neural networks in detecting superficial surgical site infections from free text health record data." Frontiers in Digital Health 5 (2024): 1249835.</a:t>
            </a:r>
          </a:p>
          <a:p>
            <a:r>
              <a:rPr lang="en-US" sz="900" b="1" dirty="0"/>
              <a:t>[7] </a:t>
            </a:r>
            <a:r>
              <a:rPr lang="en-US" sz="900" dirty="0" err="1"/>
              <a:t>Verberk</a:t>
            </a:r>
            <a:r>
              <a:rPr lang="en-US" sz="900" dirty="0"/>
              <a:t> JDM, et al. "The augmented value of using clinical notes in semi-automated surveillance of deep surgical site infections after colorectal surgery." Antimicrobial Resistance &amp; Infection Control 12 (2023): 117.</a:t>
            </a:r>
          </a:p>
          <a:p>
            <a:r>
              <a:rPr lang="en-US" sz="900" b="1" dirty="0"/>
              <a:t>[8] </a:t>
            </a:r>
            <a:r>
              <a:rPr lang="en-US" sz="900" dirty="0"/>
              <a:t>Saban M, et al. "Identifying diabetes related-complications in a real-world free-text electronic medical records in Hebrew using natural language processing techniques." Journal of Diabetes Science and Technology 19, no. 4 (2025): 99-–1007.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67" y="761009"/>
            <a:ext cx="10566466" cy="304767"/>
          </a:xfrm>
          <a:prstGeom prst="roundRect">
            <a:avLst>
              <a:gd name="adj" fmla="val 50000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952467" y="824509"/>
            <a:ext cx="10595678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kern="0" spc="75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THE PROJECT PROPOSAL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67" y="1258172"/>
            <a:ext cx="10883460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dirty="0">
                <a:solidFill>
                  <a:srgbClr val="1631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Project goals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12767" y="2751081"/>
            <a:ext cx="10566466" cy="0"/>
          </a:xfrm>
          <a:prstGeom prst="line">
            <a:avLst/>
          </a:prstGeom>
          <a:noFill/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812767" y="2138494"/>
            <a:ext cx="495300" cy="416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A8F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460417" y="2180491"/>
            <a:ext cx="10216380" cy="558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 a data-driven machine-learning model to predict the risk of hospital-acquired infection during hospitalization.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2767" y="3552354"/>
            <a:ext cx="10566466" cy="0"/>
          </a:xfrm>
          <a:prstGeom prst="line">
            <a:avLst/>
          </a:prstGeom>
          <a:noFill/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812767" y="2984996"/>
            <a:ext cx="495300" cy="416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A8F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0417" y="3047172"/>
            <a:ext cx="9372672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Enable early identification of elevated-risk patients, to support timely and targeted preventive intervention.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767" y="4336457"/>
            <a:ext cx="10566466" cy="0"/>
          </a:xfrm>
          <a:prstGeom prst="line">
            <a:avLst/>
          </a:prstGeom>
          <a:noFill/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812767" y="3760473"/>
            <a:ext cx="495300" cy="416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A8F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0417" y="3822650"/>
            <a:ext cx="7536819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Identify key clinical and demographic variables strongly associated with infection risk.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2767" y="5129104"/>
            <a:ext cx="10566466" cy="0"/>
          </a:xfrm>
          <a:prstGeom prst="line">
            <a:avLst/>
          </a:prstGeom>
          <a:noFill/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812767" y="4535867"/>
            <a:ext cx="495300" cy="416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A8F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0417" y="4598045"/>
            <a:ext cx="6203170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 the contribution of these variables to prediction performance.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12767" y="5311262"/>
            <a:ext cx="495300" cy="4164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A8F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60417" y="5373439"/>
            <a:ext cx="9554154" cy="292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Compare the performance of different predictive models and select the most accurate and reliable approach.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06383" y="6289145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DC1D1F9-534C-27A4-04C0-A15C28C1ED32}"/>
              </a:ext>
            </a:extLst>
          </p:cNvPr>
          <p:cNvSpPr txBox="1"/>
          <p:nvPr/>
        </p:nvSpPr>
        <p:spPr>
          <a:xfrm>
            <a:off x="743597" y="6080229"/>
            <a:ext cx="6094562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" dirty="0">
                <a:latin typeface="IBM Plex Sans" pitchFamily="34" charset="0"/>
              </a:rPr>
              <a:t> </a:t>
            </a:r>
            <a:r>
              <a:rPr lang="en-IL" sz="1250" dirty="0">
                <a:latin typeface="IBM Plex Sans" pitchFamily="34" charset="0"/>
              </a:rPr>
              <a:t>Final scope: postoperative SSI prediction at the end of surgery.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83" y="6289145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767" y="635000"/>
            <a:ext cx="10566383" cy="304767"/>
          </a:xfrm>
          <a:prstGeom prst="roundRect">
            <a:avLst>
              <a:gd name="adj" fmla="val 50000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952467" y="698500"/>
            <a:ext cx="10595592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kern="0" spc="75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767" y="1015916"/>
            <a:ext cx="10883374" cy="448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35"/>
              </a:lnSpc>
              <a:buNone/>
            </a:pPr>
            <a:r>
              <a:rPr lang="en-US" sz="2900" dirty="0">
                <a:solidFill>
                  <a:srgbClr val="1631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data: Assuta Ramat HaHayal EHR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815942" y="1571575"/>
            <a:ext cx="3443072" cy="838167"/>
          </a:xfrm>
          <a:prstGeom prst="roundRect">
            <a:avLst>
              <a:gd name="adj" fmla="val 8712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970441" y="1830586"/>
            <a:ext cx="832479" cy="3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31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35,925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196935" y="1882029"/>
            <a:ext cx="1150114" cy="268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surgical events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76456" y="1568400"/>
            <a:ext cx="3438922" cy="813907"/>
          </a:xfrm>
          <a:prstGeom prst="roundRect">
            <a:avLst>
              <a:gd name="adj" fmla="val 9023"/>
            </a:avLst>
          </a:prstGeom>
          <a:solidFill>
            <a:srgbClr val="1C5762"/>
          </a:solidFill>
          <a:ln/>
        </p:spPr>
        <p:txBody>
          <a:bodyPr/>
          <a:lstStyle/>
          <a:p>
            <a:endParaRPr lang="en-IL" dirty="0"/>
          </a:p>
        </p:txBody>
      </p:sp>
      <p:sp>
        <p:nvSpPr>
          <p:cNvPr id="10" name="Text 8"/>
          <p:cNvSpPr/>
          <p:nvPr/>
        </p:nvSpPr>
        <p:spPr>
          <a:xfrm>
            <a:off x="4528839" y="1799990"/>
            <a:ext cx="1505545" cy="40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chemeClr val="bg1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141 · 0.39%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5736249" y="1878535"/>
            <a:ext cx="1984548" cy="404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Positive</a:t>
            </a:r>
            <a:r>
              <a:rPr lang="he-IL" sz="1150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</a:t>
            </a:r>
            <a:r>
              <a:rPr lang="en-US" sz="1150" dirty="0">
                <a:solidFill>
                  <a:schemeClr val="bg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≈225 : 1 imbalance</a:t>
            </a:r>
            <a:endParaRPr lang="en-US" sz="115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32820" y="1545697"/>
            <a:ext cx="3443155" cy="838167"/>
          </a:xfrm>
          <a:prstGeom prst="roundRect">
            <a:avLst>
              <a:gd name="adj" fmla="val 8712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3" name="Text 11"/>
          <p:cNvSpPr/>
          <p:nvPr/>
        </p:nvSpPr>
        <p:spPr>
          <a:xfrm>
            <a:off x="8087320" y="1804708"/>
            <a:ext cx="1235720" cy="3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31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244 → 97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40482" y="1869861"/>
            <a:ext cx="1618582" cy="280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95"/>
              </a:lnSpc>
              <a:buNone/>
            </a:pPr>
            <a:r>
              <a:rPr lang="en-US" sz="1200" dirty="0">
                <a:latin typeface="IBM Plex Sans" pitchFamily="34" charset="0"/>
              </a:rPr>
              <a:t>columns</a:t>
            </a:r>
            <a:r>
              <a:rPr lang="en-US" sz="1150" dirty="0">
                <a:solidFill>
                  <a:srgbClr val="55676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200" dirty="0">
                <a:latin typeface="IBM Plex Sans" pitchFamily="34" charset="0"/>
              </a:rPr>
              <a:t>after cleaning</a:t>
            </a:r>
          </a:p>
        </p:txBody>
      </p:sp>
      <p:sp>
        <p:nvSpPr>
          <p:cNvPr id="15" name="Text 13"/>
          <p:cNvSpPr/>
          <p:nvPr/>
        </p:nvSpPr>
        <p:spPr>
          <a:xfrm>
            <a:off x="812767" y="5981650"/>
            <a:ext cx="108833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C57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modalities, one label:</a:t>
            </a:r>
            <a:r>
              <a:rPr lang="en-US" sz="1400" dirty="0">
                <a:solidFill>
                  <a:srgbClr val="1C576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structured EHR fields plus Hebrew clinical narrative- positive when either of two hospital diagnosis fields is populated.</a:t>
            </a:r>
            <a:endParaRPr lang="en-US" sz="1400" dirty="0">
              <a:solidFill>
                <a:srgbClr val="1C5762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15942" y="2536806"/>
            <a:ext cx="7094653" cy="3162283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970442" y="2691309"/>
            <a:ext cx="6989222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8F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Figure 2 — the outcome is very rare</a:t>
            </a:r>
            <a:endParaRPr lang="en-US" sz="1300" dirty="0"/>
          </a:p>
        </p:txBody>
      </p:sp>
      <p:pic>
        <p:nvPicPr>
          <p:cNvPr id="18" name="Image 0" descr="Bar charts of target counts and percentages showing 35,925 negative cases against 141 positive cases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0442" y="2952914"/>
            <a:ext cx="6741087" cy="2591676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8128860" y="2536806"/>
            <a:ext cx="3740067" cy="3162283"/>
          </a:xfrm>
          <a:prstGeom prst="roundRect">
            <a:avLst>
              <a:gd name="adj" fmla="val 2711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0" name="Text 17"/>
          <p:cNvSpPr/>
          <p:nvPr/>
        </p:nvSpPr>
        <p:spPr>
          <a:xfrm>
            <a:off x="8283360" y="2691309"/>
            <a:ext cx="3533999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8F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Figure 3 — missingness by feature group</a:t>
            </a:r>
            <a:endParaRPr lang="en-US" sz="1300" dirty="0"/>
          </a:p>
        </p:txBody>
      </p:sp>
      <p:pic>
        <p:nvPicPr>
          <p:cNvPr id="21" name="Image 1" descr="Horizontal bar chart of missingness percentage by clinical feature group, from culture fields near 100 percent to primary procedure near 6 percent"/>
          <p:cNvPicPr>
            <a:picLocks noChangeAspect="1"/>
          </p:cNvPicPr>
          <p:nvPr/>
        </p:nvPicPr>
        <p:blipFill>
          <a:blip r:embed="rId4"/>
          <a:srcRect l="-1241" r="-1241"/>
          <a:stretch/>
        </p:blipFill>
        <p:spPr>
          <a:xfrm>
            <a:off x="8125768" y="2952750"/>
            <a:ext cx="3746500" cy="274951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67" y="700626"/>
            <a:ext cx="10566466" cy="304767"/>
          </a:xfrm>
          <a:prstGeom prst="roundRect">
            <a:avLst>
              <a:gd name="adj" fmla="val 50000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952467" y="764126"/>
            <a:ext cx="10595678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kern="0" spc="75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METHOD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67" y="1094276"/>
            <a:ext cx="10883460" cy="463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dirty="0">
                <a:solidFill>
                  <a:srgbClr val="1631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From raw export to a risk model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42" y="1980768"/>
            <a:ext cx="2540016" cy="1190559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945059" y="2122536"/>
            <a:ext cx="23502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8F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1-2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45059" y="2386622"/>
            <a:ext cx="2350237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Exploratory analysis of the raw export and of the infected subgroup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89308" y="1980768"/>
            <a:ext cx="2540016" cy="1190559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3618425" y="2122536"/>
            <a:ext cx="23502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1A8F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8425" y="2386622"/>
            <a:ext cx="2350237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Cleaning, cohort restriction, prediction-window enforcement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62675" y="1980768"/>
            <a:ext cx="2540016" cy="1190559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6291792" y="2122536"/>
            <a:ext cx="23502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1A8F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4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91792" y="2386622"/>
            <a:ext cx="2350237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EDA repeated on the cleaned dataset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836041" y="1980768"/>
            <a:ext cx="2540016" cy="1190559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8965158" y="2122536"/>
            <a:ext cx="235023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1A8F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965158" y="2386622"/>
            <a:ext cx="2350237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Hebrew text processing</a:t>
            </a:r>
            <a:r>
              <a:rPr lang="he-IL" sz="1250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</a:t>
            </a:r>
            <a:r>
              <a:rPr lang="en-US" sz="1250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comparison of three text models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15942" y="3596981"/>
            <a:ext cx="2627825" cy="1190559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945059" y="3738750"/>
            <a:ext cx="24406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1A8F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6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45059" y="4002836"/>
            <a:ext cx="2440680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Feature engineering; locked train/test split</a:t>
            </a:r>
            <a:r>
              <a:rPr lang="he-IL" sz="1250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:</a:t>
            </a:r>
            <a:r>
              <a:rPr lang="en-US" sz="1250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out-of-fold text score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577117" y="3596981"/>
            <a:ext cx="2627908" cy="1190559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3706233" y="3738750"/>
            <a:ext cx="244076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1A8F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Stage 7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06233" y="4002836"/>
            <a:ext cx="2440765" cy="668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Pre-modelling: prototype aggregation, encoding, imputation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335200" y="3593806"/>
            <a:ext cx="5044033" cy="1196909"/>
          </a:xfrm>
          <a:prstGeom prst="roundRect">
            <a:avLst>
              <a:gd name="adj" fmla="val 7427"/>
            </a:avLst>
          </a:prstGeom>
          <a:solidFill>
            <a:srgbClr val="1C576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6487583" y="3733457"/>
            <a:ext cx="48814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b="1" dirty="0">
                <a:solidFill>
                  <a:srgbClr val="8FE6DC"/>
                </a:solidFill>
                <a:latin typeface="IBM Plex Sans" pitchFamily="34" charset="0"/>
              </a:rPr>
              <a:t>Stage</a:t>
            </a:r>
            <a:r>
              <a:rPr lang="en-US" sz="1200" b="1" dirty="0">
                <a:solidFill>
                  <a:srgbClr val="1A8F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200" b="1" dirty="0">
                <a:solidFill>
                  <a:srgbClr val="8FE6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87583" y="3997543"/>
            <a:ext cx="4881444" cy="454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250" dirty="0">
                <a:solidFill>
                  <a:srgbClr val="C7DED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Modelling: balancing, tuning, threshold selection, calibration, evaluation, SHAP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2767" y="5287655"/>
            <a:ext cx="10566466" cy="756708"/>
          </a:xfrm>
          <a:prstGeom prst="roundRect">
            <a:avLst>
              <a:gd name="adj" fmla="val 11748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989545" y="5559350"/>
            <a:ext cx="742355" cy="2387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A8F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 pivot-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44524" y="5452690"/>
            <a:ext cx="885415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660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Post-operative fields turned out to be filled in only once infection was already suspected — target leakage. The prediction point </a:t>
            </a:r>
            <a:br>
              <a:rPr lang="en-US" sz="1200" dirty="0">
                <a:solidFill>
                  <a:srgbClr val="1660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</a:br>
            <a:r>
              <a:rPr lang="en-US" sz="1200" dirty="0">
                <a:solidFill>
                  <a:srgbClr val="1660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moved back to the </a:t>
            </a:r>
            <a:r>
              <a:rPr lang="en-US" sz="1200" b="1" dirty="0">
                <a:solidFill>
                  <a:srgbClr val="1660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end of surgery</a:t>
            </a:r>
            <a:r>
              <a:rPr lang="en-US" sz="1200" dirty="0">
                <a:solidFill>
                  <a:srgbClr val="1660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06383" y="6289145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06</a:t>
            </a:r>
            <a:endParaRPr lang="en-US" sz="1200" dirty="0"/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0364010-EBB1-7AA7-EF67-1C17E128EFB2}"/>
              </a:ext>
            </a:extLst>
          </p:cNvPr>
          <p:cNvCxnSpPr>
            <a:cxnSpLocks/>
          </p:cNvCxnSpPr>
          <p:nvPr/>
        </p:nvCxnSpPr>
        <p:spPr>
          <a:xfrm>
            <a:off x="3304202" y="2576048"/>
            <a:ext cx="262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7F2EED5-6F65-844B-3BD5-74A6D0E65453}"/>
              </a:ext>
            </a:extLst>
          </p:cNvPr>
          <p:cNvCxnSpPr>
            <a:cxnSpLocks/>
          </p:cNvCxnSpPr>
          <p:nvPr/>
        </p:nvCxnSpPr>
        <p:spPr>
          <a:xfrm>
            <a:off x="5966877" y="2590432"/>
            <a:ext cx="262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7E1BA44-B199-A6D7-53CB-1FF7634B6B7D}"/>
              </a:ext>
            </a:extLst>
          </p:cNvPr>
          <p:cNvCxnSpPr>
            <a:cxnSpLocks/>
          </p:cNvCxnSpPr>
          <p:nvPr/>
        </p:nvCxnSpPr>
        <p:spPr>
          <a:xfrm>
            <a:off x="8655439" y="2587560"/>
            <a:ext cx="262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D6186F2-D30D-5E45-13CB-B9DFEEAD1394}"/>
              </a:ext>
            </a:extLst>
          </p:cNvPr>
          <p:cNvCxnSpPr>
            <a:cxnSpLocks/>
          </p:cNvCxnSpPr>
          <p:nvPr/>
        </p:nvCxnSpPr>
        <p:spPr>
          <a:xfrm>
            <a:off x="6159531" y="4189194"/>
            <a:ext cx="262467" cy="0"/>
          </a:xfrm>
          <a:prstGeom prst="straightConnector1">
            <a:avLst/>
          </a:prstGeom>
          <a:ln>
            <a:solidFill>
              <a:srgbClr val="8FE6D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C6E04A5C-276F-A8E5-9E33-3EEC4C8BB6C6}"/>
              </a:ext>
            </a:extLst>
          </p:cNvPr>
          <p:cNvCxnSpPr>
            <a:cxnSpLocks/>
          </p:cNvCxnSpPr>
          <p:nvPr/>
        </p:nvCxnSpPr>
        <p:spPr>
          <a:xfrm>
            <a:off x="3387592" y="4194947"/>
            <a:ext cx="2624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07380D17-B3D9-9801-1A88-BF1A752093F1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 rot="5400000">
            <a:off x="5905125" y="-603943"/>
            <a:ext cx="425654" cy="797619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83" y="6289145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12808" y="323453"/>
            <a:ext cx="10566383" cy="304767"/>
          </a:xfrm>
          <a:prstGeom prst="roundRect">
            <a:avLst>
              <a:gd name="adj" fmla="val 50000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952508" y="386953"/>
            <a:ext cx="10595592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kern="0" spc="75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FIRST COMPARISON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12808" y="704369"/>
            <a:ext cx="10883374" cy="434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dirty="0">
                <a:solidFill>
                  <a:srgbClr val="1631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Comparing the text models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528487"/>
              </p:ext>
            </p:extLst>
          </p:nvPr>
        </p:nvGraphicFramePr>
        <p:xfrm>
          <a:off x="812808" y="1250374"/>
          <a:ext cx="10566382" cy="1606684"/>
        </p:xfrm>
        <a:graphic>
          <a:graphicData uri="http://schemas.openxmlformats.org/drawingml/2006/table">
            <a:tbl>
              <a:tblPr/>
              <a:tblGrid>
                <a:gridCol w="35925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06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62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06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6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16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ROC-AUC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PR-AUC (AP)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Precision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Recall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6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TF-IDF + logistic regression</a:t>
                      </a:r>
                      <a:endParaRPr lang="en-US" sz="1200" dirty="0">
                        <a:solidFill>
                          <a:schemeClr val="bg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7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0.933</a:t>
                      </a:r>
                      <a:endParaRPr lang="en-US" sz="1200" dirty="0">
                        <a:solidFill>
                          <a:schemeClr val="bg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7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0.519</a:t>
                      </a:r>
                      <a:endParaRPr lang="en-US" sz="1200" dirty="0">
                        <a:solidFill>
                          <a:schemeClr val="bg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7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0.577</a:t>
                      </a:r>
                      <a:endParaRPr lang="en-US" sz="1200" dirty="0">
                        <a:solidFill>
                          <a:schemeClr val="bg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7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bg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0.517</a:t>
                      </a:r>
                      <a:endParaRPr lang="en-US" sz="1200" dirty="0">
                        <a:solidFill>
                          <a:schemeClr val="bg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57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6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TF-IDF + XGBoost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0.821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0.304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0.286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0.069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671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Llama 3.3:70b, prompted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0.701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0.183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0.169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0.345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88900" marB="889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5942" y="3112912"/>
            <a:ext cx="7914365" cy="817414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5"/>
          <p:cNvSpPr/>
          <p:nvPr/>
        </p:nvSpPr>
        <p:spPr>
          <a:xfrm>
            <a:off x="970442" y="3267411"/>
            <a:ext cx="7833526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A8F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Precision–recall by representation</a:t>
            </a:r>
            <a:endParaRPr lang="en-US" sz="1350" dirty="0"/>
          </a:p>
        </p:txBody>
      </p:sp>
      <p:pic>
        <p:nvPicPr>
          <p:cNvPr id="9" name="Image 0" descr="Precision-recall curves comparing TF-IDF logistic regression, TF-IDF XGBoost and the prompted LLM on the rebalanced comparison split"/>
          <p:cNvPicPr>
            <a:picLocks noChangeAspect="1"/>
          </p:cNvPicPr>
          <p:nvPr/>
        </p:nvPicPr>
        <p:blipFill>
          <a:blip r:embed="rId3"/>
          <a:srcRect t="-10797" b="-10797"/>
          <a:stretch/>
        </p:blipFill>
        <p:spPr>
          <a:xfrm>
            <a:off x="812767" y="3286099"/>
            <a:ext cx="7920798" cy="306875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889040" y="3112912"/>
            <a:ext cx="2486852" cy="1492184"/>
          </a:xfrm>
          <a:prstGeom prst="roundRect">
            <a:avLst>
              <a:gd name="adj" fmla="val 5745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1" name="Text 7"/>
          <p:cNvSpPr/>
          <p:nvPr/>
        </p:nvSpPr>
        <p:spPr>
          <a:xfrm>
            <a:off x="9068924" y="3334964"/>
            <a:ext cx="2190897" cy="1073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Evaluated on a rebalanced 319-note split (29 positive, 290 negative), built to rank the three representations- not to estimate population performance.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8885865" y="4735353"/>
            <a:ext cx="2493202" cy="1498534"/>
          </a:xfrm>
          <a:prstGeom prst="roundRect">
            <a:avLst>
              <a:gd name="adj" fmla="val 5932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13" name="Text 9"/>
          <p:cNvSpPr/>
          <p:nvPr/>
        </p:nvSpPr>
        <p:spPr>
          <a:xfrm>
            <a:off x="9063633" y="4887737"/>
            <a:ext cx="2201798" cy="1219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8"/>
              </a:lnSpc>
              <a:buNone/>
            </a:pPr>
            <a:r>
              <a:rPr lang="en-US" sz="1100" b="1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Takeaway:</a:t>
            </a:r>
            <a:r>
              <a:rPr lang="en-US" sz="11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simplest model won decisively over a 70-billion-parameter LLM. TF-IDF + logistic regression became the text-derived score carried into the tabular model.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67" y="635000"/>
            <a:ext cx="10566466" cy="304767"/>
          </a:xfrm>
          <a:prstGeom prst="roundRect">
            <a:avLst>
              <a:gd name="adj" fmla="val 50000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952467" y="698500"/>
            <a:ext cx="10595678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kern="0" spc="75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SECOND COMPARISON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67" y="1015916"/>
            <a:ext cx="10883460" cy="434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dirty="0">
                <a:solidFill>
                  <a:srgbClr val="1631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Comparing the tabular models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205095"/>
              </p:ext>
            </p:extLst>
          </p:nvPr>
        </p:nvGraphicFramePr>
        <p:xfrm>
          <a:off x="812767" y="1577246"/>
          <a:ext cx="4388961" cy="2813264"/>
        </p:xfrm>
        <a:graphic>
          <a:graphicData uri="http://schemas.openxmlformats.org/drawingml/2006/table">
            <a:tbl>
              <a:tblPr/>
              <a:tblGrid>
                <a:gridCol w="1931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9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7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31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Model</a:t>
                      </a:r>
                      <a:endParaRPr lang="en-US" sz="13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Tuned CV PR-AUC</a:t>
                      </a:r>
                      <a:endParaRPr lang="en-US" sz="13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lnSpc>
                          <a:spcPct val="100000"/>
                        </a:lnSpc>
                        <a:buNone/>
                      </a:pPr>
                      <a:r>
                        <a:rPr lang="en-IL" sz="1300" b="1" kern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+mn-ea"/>
                          <a:cs typeface="+mn-cs"/>
                        </a:rPr>
                        <a:t>Tuning runtime (s)</a:t>
                      </a:r>
                      <a:endParaRPr lang="en-US" sz="1300" b="1" kern="1200" dirty="0">
                        <a:solidFill>
                          <a:schemeClr val="tx1"/>
                        </a:solidFill>
                        <a:latin typeface="IBM Plex Sans" pitchFamily="34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311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Logistic regression - locked</a:t>
                      </a:r>
                      <a:endParaRPr lang="en-US" sz="1300" dirty="0">
                        <a:solidFill>
                          <a:schemeClr val="bg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54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chemeClr val="bg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0.329</a:t>
                      </a:r>
                      <a:endParaRPr lang="en-US" sz="1300" dirty="0">
                        <a:solidFill>
                          <a:schemeClr val="bg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54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IL" sz="1300" kern="1200" dirty="0">
                          <a:solidFill>
                            <a:schemeClr val="bg1"/>
                          </a:solidFill>
                          <a:latin typeface="IBM Plex Sans" pitchFamily="34" charset="0"/>
                          <a:ea typeface="+mn-ea"/>
                          <a:cs typeface="+mn-cs"/>
                        </a:rPr>
                        <a:t>11</a:t>
                      </a:r>
                      <a:endParaRPr lang="en-US" sz="1300" kern="1200" dirty="0">
                        <a:solidFill>
                          <a:schemeClr val="bg1"/>
                        </a:solidFill>
                        <a:latin typeface="IBM Plex Sans" pitchFamily="34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54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1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3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CatBoost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3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0.325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IL" sz="1300" kern="1200" dirty="0">
                          <a:solidFill>
                            <a:srgbClr val="16313A"/>
                          </a:solidFill>
                          <a:latin typeface="IBM Plex Sans" pitchFamily="34" charset="0"/>
                          <a:ea typeface="+mn-ea"/>
                          <a:cs typeface="+mn-cs"/>
                        </a:rPr>
                        <a:t>1,547</a:t>
                      </a:r>
                      <a:endParaRPr lang="en-US" sz="1300" kern="1200" dirty="0">
                        <a:solidFill>
                          <a:srgbClr val="16313A"/>
                        </a:solidFill>
                        <a:latin typeface="IBM Plex Sans" pitchFamily="34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1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3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XGBoost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3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0.289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IL" sz="1300" kern="1200" dirty="0">
                          <a:solidFill>
                            <a:srgbClr val="16313A"/>
                          </a:solidFill>
                          <a:latin typeface="IBM Plex Sans" pitchFamily="34" charset="0"/>
                          <a:ea typeface="+mn-ea"/>
                          <a:cs typeface="+mn-cs"/>
                        </a:rPr>
                        <a:t>31</a:t>
                      </a:r>
                      <a:endParaRPr lang="en-US" sz="1300" kern="1200" dirty="0">
                        <a:solidFill>
                          <a:srgbClr val="16313A"/>
                        </a:solidFill>
                        <a:latin typeface="IBM Plex Sans" pitchFamily="34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14">
                <a:tc>
                  <a:txBody>
                    <a:bodyPr/>
                    <a:lstStyle/>
                    <a:p>
                      <a:pPr marL="0" indent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3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Random forest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6313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0.289</a:t>
                      </a:r>
                      <a:endParaRPr lang="en-US" sz="13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IL" sz="1300" kern="1200" dirty="0">
                          <a:solidFill>
                            <a:srgbClr val="16313A"/>
                          </a:solidFill>
                          <a:latin typeface="IBM Plex Sans" pitchFamily="34" charset="0"/>
                          <a:ea typeface="+mn-ea"/>
                          <a:cs typeface="+mn-cs"/>
                        </a:rPr>
                        <a:t>86</a:t>
                      </a:r>
                      <a:endParaRPr lang="en-US" sz="1300" kern="1200" dirty="0">
                        <a:solidFill>
                          <a:srgbClr val="16313A"/>
                        </a:solidFill>
                        <a:latin typeface="IBM Plex Sans" pitchFamily="34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27000" marR="127000" marT="114300" marB="114300">
                    <a:lnL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D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767" y="4558767"/>
            <a:ext cx="4390760" cy="1486462"/>
          </a:xfrm>
          <a:prstGeom prst="roundRect">
            <a:avLst>
              <a:gd name="adj" fmla="val 5981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/>
          <p:nvPr/>
        </p:nvSpPr>
        <p:spPr>
          <a:xfrm>
            <a:off x="1015917" y="4848982"/>
            <a:ext cx="4103993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400" b="1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Takeaway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5917" y="5097859"/>
            <a:ext cx="4103993" cy="682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ts val="1725"/>
              </a:lnSpc>
              <a:buNone/>
            </a:pPr>
            <a:r>
              <a:rPr lang="en-US" sz="14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Logistic regression and CatBoost were a near-tie on </a:t>
            </a:r>
            <a:br>
              <a:rPr lang="en-US" sz="14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</a:br>
            <a:r>
              <a:rPr lang="en-US" sz="14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CV PR-AUC (0.329 vs. 0.325). The tie was resolved for the cheaper, more interpretable </a:t>
            </a:r>
            <a:r>
              <a:rPr lang="en-US" sz="1400" b="1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SMOTE</a:t>
            </a:r>
            <a:r>
              <a:rPr lang="en-US" sz="14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-balanced linear model.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38980" y="1580421"/>
            <a:ext cx="4914768" cy="4461635"/>
          </a:xfrm>
          <a:prstGeom prst="roundRect">
            <a:avLst>
              <a:gd name="adj" fmla="val 1921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7"/>
          <p:cNvSpPr/>
          <p:nvPr/>
        </p:nvSpPr>
        <p:spPr>
          <a:xfrm>
            <a:off x="6393480" y="1734920"/>
            <a:ext cx="3984097" cy="231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A8F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Tuned CV PR-AUC by model</a:t>
            </a:r>
            <a:endParaRPr lang="en-US" sz="1350" dirty="0"/>
          </a:p>
        </p:txBody>
      </p:sp>
      <p:pic>
        <p:nvPicPr>
          <p:cNvPr id="11" name="Image 0" descr="Bar chart comparing tuned cross-validated PR-AUC for logistic regression, CatBoost, XGBoost and random forest"/>
          <p:cNvPicPr>
            <a:picLocks noChangeAspect="1"/>
          </p:cNvPicPr>
          <p:nvPr/>
        </p:nvPicPr>
        <p:blipFill>
          <a:blip r:embed="rId3"/>
          <a:srcRect t="-1" b="-1"/>
          <a:stretch/>
        </p:blipFill>
        <p:spPr>
          <a:xfrm>
            <a:off x="6393480" y="2004135"/>
            <a:ext cx="4760268" cy="38834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383" y="6289142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60FEE2-AD66-2510-7C05-54E855758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307F909-3836-7E3F-0B6D-462AA5E27152}"/>
              </a:ext>
            </a:extLst>
          </p:cNvPr>
          <p:cNvSpPr/>
          <p:nvPr/>
        </p:nvSpPr>
        <p:spPr>
          <a:xfrm>
            <a:off x="406383" y="6289142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35F32E-BACE-E6D3-8B25-45C3B570137B}"/>
              </a:ext>
            </a:extLst>
          </p:cNvPr>
          <p:cNvSpPr/>
          <p:nvPr/>
        </p:nvSpPr>
        <p:spPr>
          <a:xfrm>
            <a:off x="812808" y="355841"/>
            <a:ext cx="10587179" cy="405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90"/>
              </a:lnSpc>
              <a:buNone/>
            </a:pPr>
            <a:r>
              <a:rPr lang="en-US" sz="2600" dirty="0">
                <a:solidFill>
                  <a:srgbClr val="1631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Final model performance</a:t>
            </a:r>
            <a:endParaRPr lang="en-US" sz="26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3CB0A0-F902-919D-B66C-7CB91DDE13E0}"/>
              </a:ext>
            </a:extLst>
          </p:cNvPr>
          <p:cNvSpPr/>
          <p:nvPr/>
        </p:nvSpPr>
        <p:spPr>
          <a:xfrm>
            <a:off x="812808" y="6045150"/>
            <a:ext cx="10883374" cy="2053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r>
              <a:rPr lang="en-IL" sz="1400" b="1" dirty="0"/>
              <a:t>Clinical workload:</a:t>
            </a:r>
            <a:r>
              <a:rPr lang="en-IL" sz="1400" dirty="0"/>
              <a:t> 82.9 alerts per 1,000 procedures</a:t>
            </a:r>
            <a:r>
              <a:rPr lang="en-US" sz="1400" dirty="0"/>
              <a:t>.</a:t>
            </a: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11B44B8-C6C3-8E62-D15C-23E4E5AF5D27}"/>
              </a:ext>
            </a:extLst>
          </p:cNvPr>
          <p:cNvSpPr/>
          <p:nvPr/>
        </p:nvSpPr>
        <p:spPr>
          <a:xfrm>
            <a:off x="679412" y="1758931"/>
            <a:ext cx="6375565" cy="4145293"/>
          </a:xfrm>
          <a:prstGeom prst="roundRect">
            <a:avLst>
              <a:gd name="adj" fmla="val 2068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EB11E377-D82B-8AFF-C511-E8D97AE815C0}"/>
              </a:ext>
            </a:extLst>
          </p:cNvPr>
          <p:cNvSpPr/>
          <p:nvPr/>
        </p:nvSpPr>
        <p:spPr>
          <a:xfrm>
            <a:off x="821179" y="1900696"/>
            <a:ext cx="6274792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8F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drives the score (SHAP)</a:t>
            </a:r>
            <a:endParaRPr lang="en-US" sz="1300" dirty="0"/>
          </a:p>
        </p:txBody>
      </p:sp>
      <p:pic>
        <p:nvPicPr>
          <p:cNvPr id="9" name="Image 0" descr="SHAP feature importance chart: activity cluster general surgery, thoracic surgery, MRSA screening, urinary catheter, procedure code, text-derived risk score, age, detected pathogen">
            <a:extLst>
              <a:ext uri="{FF2B5EF4-FFF2-40B4-BE49-F238E27FC236}">
                <a16:creationId xmlns:a16="http://schemas.microsoft.com/office/drawing/2014/main" id="{9863762A-76B3-EA58-4D1F-3DB4E986DA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184"/>
          <a:stretch/>
        </p:blipFill>
        <p:spPr>
          <a:xfrm>
            <a:off x="885010" y="2139900"/>
            <a:ext cx="5860855" cy="3664629"/>
          </a:xfrm>
          <a:prstGeom prst="rect">
            <a:avLst/>
          </a:prstGeom>
        </p:spPr>
      </p:pic>
      <p:sp>
        <p:nvSpPr>
          <p:cNvPr id="29" name="Shape 3">
            <a:extLst>
              <a:ext uri="{FF2B5EF4-FFF2-40B4-BE49-F238E27FC236}">
                <a16:creationId xmlns:a16="http://schemas.microsoft.com/office/drawing/2014/main" id="{91989665-97A4-C6E0-3F93-8FA4821E438C}"/>
              </a:ext>
            </a:extLst>
          </p:cNvPr>
          <p:cNvSpPr/>
          <p:nvPr/>
        </p:nvSpPr>
        <p:spPr>
          <a:xfrm>
            <a:off x="7423847" y="1758888"/>
            <a:ext cx="4045992" cy="4145211"/>
          </a:xfrm>
          <a:prstGeom prst="roundRect">
            <a:avLst>
              <a:gd name="adj" fmla="val 2119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1" name="Text 4">
            <a:extLst>
              <a:ext uri="{FF2B5EF4-FFF2-40B4-BE49-F238E27FC236}">
                <a16:creationId xmlns:a16="http://schemas.microsoft.com/office/drawing/2014/main" id="{8FD36BC1-9BF9-92CD-1096-23B9A6012064}"/>
              </a:ext>
            </a:extLst>
          </p:cNvPr>
          <p:cNvSpPr/>
          <p:nvPr/>
        </p:nvSpPr>
        <p:spPr>
          <a:xfrm>
            <a:off x="7565614" y="1900659"/>
            <a:ext cx="3875331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A8F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Confusion matrix </a:t>
            </a:r>
            <a:r>
              <a:rPr lang="he-IL" sz="1300" b="1" dirty="0">
                <a:solidFill>
                  <a:srgbClr val="1A8F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</a:t>
            </a:r>
            <a:r>
              <a:rPr lang="en-US" sz="1300" b="1" dirty="0">
                <a:solidFill>
                  <a:srgbClr val="1A8F8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9,555 events, 42 infections</a:t>
            </a:r>
            <a:endParaRPr lang="en-US" sz="1300" dirty="0"/>
          </a:p>
        </p:txBody>
      </p:sp>
      <p:pic>
        <p:nvPicPr>
          <p:cNvPr id="33" name="Image 1" descr="Confusion matrix: 37 true positives, 5 false negatives, 755 false positives, 8758 true negatives">
            <a:extLst>
              <a:ext uri="{FF2B5EF4-FFF2-40B4-BE49-F238E27FC236}">
                <a16:creationId xmlns:a16="http://schemas.microsoft.com/office/drawing/2014/main" id="{7A2F19CE-E370-2805-2A22-5EA3B22C6B9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3737" b="-3737"/>
          <a:stretch/>
        </p:blipFill>
        <p:spPr>
          <a:xfrm>
            <a:off x="7423847" y="2139900"/>
            <a:ext cx="3720313" cy="3732354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14BF31E7-07AE-A1AC-BB9E-BF67FD69E0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412" y="910553"/>
            <a:ext cx="10862048" cy="67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0327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812767" y="548694"/>
            <a:ext cx="10883460" cy="463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dirty="0">
                <a:solidFill>
                  <a:srgbClr val="1631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2767" y="1858451"/>
            <a:ext cx="10566466" cy="0"/>
          </a:xfrm>
          <a:prstGeom prst="line">
            <a:avLst/>
          </a:prstGeom>
          <a:noFill/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812767" y="1274745"/>
            <a:ext cx="406334" cy="3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8F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46068" y="1326501"/>
            <a:ext cx="10334160" cy="50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Hebrew clinical narrative carries genuine infection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12767" y="2772007"/>
            <a:ext cx="10566466" cy="0"/>
          </a:xfrm>
          <a:prstGeom prst="line">
            <a:avLst/>
          </a:prstGeom>
          <a:noFill/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812767" y="2188301"/>
            <a:ext cx="406334" cy="3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8F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46068" y="2240057"/>
            <a:ext cx="10334160" cy="50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en-US" sz="1350" b="1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High discrimination does not mean high precision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2767" y="3685477"/>
            <a:ext cx="10566466" cy="0"/>
          </a:xfrm>
          <a:prstGeom prst="line">
            <a:avLst/>
          </a:prstGeom>
          <a:noFill/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812767" y="3101777"/>
            <a:ext cx="406334" cy="3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8F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46068" y="3136281"/>
            <a:ext cx="10334160" cy="50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prediction point is a clinical decision, not a technical parameter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2767" y="4599034"/>
            <a:ext cx="10566466" cy="0"/>
          </a:xfrm>
          <a:prstGeom prst="line">
            <a:avLst/>
          </a:prstGeom>
          <a:noFill/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812767" y="4015334"/>
            <a:ext cx="406334" cy="3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8F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46068" y="4049838"/>
            <a:ext cx="10334160" cy="50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single scalar may be too narrow a channel for multimodal integration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12767" y="4928804"/>
            <a:ext cx="406334" cy="345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A8F8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46068" y="4928804"/>
            <a:ext cx="10334160" cy="505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Leakage control has to be designed into the pipeline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06383" y="6289142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8A8ADA4-892C-05B4-7969-441B72D29E35}"/>
              </a:ext>
            </a:extLst>
          </p:cNvPr>
          <p:cNvSpPr txBox="1"/>
          <p:nvPr/>
        </p:nvSpPr>
        <p:spPr>
          <a:xfrm>
            <a:off x="640076" y="5842274"/>
            <a:ext cx="105664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L" sz="1100" dirty="0">
                <a:latin typeface="IBM Plex Sans" pitchFamily="34" charset="0"/>
              </a:rPr>
              <a:t>Objectives: 4 achieved / 1 partially achieved</a:t>
            </a:r>
            <a:r>
              <a:rPr lang="en-US" sz="1100" dirty="0">
                <a:latin typeface="IBM Plex Sans" pitchFamily="34" charset="0"/>
              </a:rPr>
              <a:t>-</a:t>
            </a:r>
            <a:r>
              <a:rPr lang="en-IL" sz="1100" dirty="0">
                <a:latin typeface="IBM Plex Sans" pitchFamily="34" charset="0"/>
              </a:rPr>
              <a:t> early identification demonstrated retrospectively, not prospectively.</a:t>
            </a:r>
            <a:endParaRPr lang="en-US" sz="1100" dirty="0">
              <a:latin typeface="IBM Plex Sans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767" y="698500"/>
            <a:ext cx="10566466" cy="304767"/>
          </a:xfrm>
          <a:prstGeom prst="roundRect">
            <a:avLst>
              <a:gd name="adj" fmla="val 50000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952467" y="762000"/>
            <a:ext cx="10595678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kern="0" spc="75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HONESTLY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67" y="1092150"/>
            <a:ext cx="10883460" cy="463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dirty="0">
                <a:solidFill>
                  <a:srgbClr val="1631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Limitations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15942" y="2038527"/>
            <a:ext cx="3431084" cy="1418651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995825" y="2205681"/>
            <a:ext cx="3163456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Statistical power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95825" y="2506308"/>
            <a:ext cx="3163456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Only 42 positive cases in the frozen test set- a shift of 3 cases moves recall by more than 7 points.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80375" y="2038527"/>
            <a:ext cx="3431166" cy="1432405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560259" y="2205681"/>
            <a:ext cx="3163541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compressed feature set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60259" y="2497682"/>
            <a:ext cx="3163541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266 candidate columns were reduced to 20 before modelling- reasonable with 99 positive training cases, but a real reduction.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44892" y="2038528"/>
            <a:ext cx="3431166" cy="1418651"/>
          </a:xfrm>
          <a:prstGeom prst="roundRect">
            <a:avLst>
              <a:gd name="adj" fmla="val 4110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8124775" y="2205681"/>
            <a:ext cx="3163541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clinical convention, not a timestamp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4775" y="2454552"/>
            <a:ext cx="3163541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top-ranked admission-screening fields are classified as pre-operative by clinical judgement- no patient-level timestamp confirms it.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5942" y="4257884"/>
            <a:ext cx="3434639" cy="1409666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5" name="Text 13"/>
          <p:cNvSpPr/>
          <p:nvPr/>
        </p:nvSpPr>
        <p:spPr>
          <a:xfrm>
            <a:off x="995825" y="4425037"/>
            <a:ext cx="3167118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possible cohort artefact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95825" y="4698152"/>
            <a:ext cx="3167118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zero-infection activity clusters were excluded- plausibly genuine low risk, but partly a documentation gap.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383931" y="4257884"/>
            <a:ext cx="3434721" cy="1409666"/>
          </a:xfrm>
          <a:prstGeom prst="roundRect">
            <a:avLst>
              <a:gd name="adj" fmla="val 4109"/>
            </a:avLst>
          </a:prstGeom>
          <a:solidFill>
            <a:srgbClr val="FFFFFF"/>
          </a:solidFill>
          <a:ln w="6350">
            <a:solidFill>
              <a:srgbClr val="DCE6E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8" name="Text 16"/>
          <p:cNvSpPr/>
          <p:nvPr/>
        </p:nvSpPr>
        <p:spPr>
          <a:xfrm>
            <a:off x="4563814" y="4425037"/>
            <a:ext cx="3167203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6313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Single centre, no external validation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63814" y="4723187"/>
            <a:ext cx="3167203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3A4F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private medical centre; infections treated elsewhere are not captured, so labels likely under-count true infections.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48827" y="4254709"/>
            <a:ext cx="3430405" cy="1412841"/>
          </a:xfrm>
          <a:prstGeom prst="roundRect">
            <a:avLst>
              <a:gd name="adj" fmla="val 4249"/>
            </a:avLst>
          </a:prstGeom>
          <a:solidFill>
            <a:srgbClr val="1C5762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8126594" y="4419747"/>
            <a:ext cx="3167118" cy="2235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8FE6D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Performance varies by subgroup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6594" y="4723187"/>
            <a:ext cx="3167118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CFE9E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 0.42 in general surgery vs. 0.03 in thoracic surgery- one pooled model and one threshold were still used for all.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06383" y="6289142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">
            <a:extLst>
              <a:ext uri="{FF2B5EF4-FFF2-40B4-BE49-F238E27FC236}">
                <a16:creationId xmlns:a16="http://schemas.microsoft.com/office/drawing/2014/main" id="{305E049B-2B7E-9C40-1DE2-5241F1B4E833}"/>
              </a:ext>
            </a:extLst>
          </p:cNvPr>
          <p:cNvSpPr/>
          <p:nvPr/>
        </p:nvSpPr>
        <p:spPr>
          <a:xfrm>
            <a:off x="1106176" y="4246004"/>
            <a:ext cx="2767195" cy="1670186"/>
          </a:xfrm>
          <a:prstGeom prst="roundRect">
            <a:avLst>
              <a:gd name="adj" fmla="val 6125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9" name="Shape 6">
            <a:extLst>
              <a:ext uri="{FF2B5EF4-FFF2-40B4-BE49-F238E27FC236}">
                <a16:creationId xmlns:a16="http://schemas.microsoft.com/office/drawing/2014/main" id="{931A6CEB-03D5-8198-E336-5C9D8762E4A3}"/>
              </a:ext>
            </a:extLst>
          </p:cNvPr>
          <p:cNvSpPr/>
          <p:nvPr/>
        </p:nvSpPr>
        <p:spPr>
          <a:xfrm>
            <a:off x="4781885" y="4196997"/>
            <a:ext cx="2767195" cy="1670186"/>
          </a:xfrm>
          <a:prstGeom prst="roundRect">
            <a:avLst>
              <a:gd name="adj" fmla="val 6125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3CBAF8DC-80F7-4620-025B-60428E5CE932}"/>
              </a:ext>
            </a:extLst>
          </p:cNvPr>
          <p:cNvSpPr/>
          <p:nvPr/>
        </p:nvSpPr>
        <p:spPr>
          <a:xfrm>
            <a:off x="8121050" y="4246004"/>
            <a:ext cx="2767195" cy="1670186"/>
          </a:xfrm>
          <a:prstGeom prst="roundRect">
            <a:avLst>
              <a:gd name="adj" fmla="val 6125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5" name="Shape 6">
            <a:extLst>
              <a:ext uri="{FF2B5EF4-FFF2-40B4-BE49-F238E27FC236}">
                <a16:creationId xmlns:a16="http://schemas.microsoft.com/office/drawing/2014/main" id="{1CC56879-5E1D-EBBC-C38B-C94472CF596C}"/>
              </a:ext>
            </a:extLst>
          </p:cNvPr>
          <p:cNvSpPr/>
          <p:nvPr/>
        </p:nvSpPr>
        <p:spPr>
          <a:xfrm>
            <a:off x="8121051" y="1982181"/>
            <a:ext cx="2767195" cy="1670186"/>
          </a:xfrm>
          <a:prstGeom prst="roundRect">
            <a:avLst>
              <a:gd name="adj" fmla="val 6125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2" name="Shape 0"/>
          <p:cNvSpPr/>
          <p:nvPr/>
        </p:nvSpPr>
        <p:spPr>
          <a:xfrm>
            <a:off x="812767" y="698500"/>
            <a:ext cx="10566466" cy="304767"/>
          </a:xfrm>
          <a:prstGeom prst="roundRect">
            <a:avLst>
              <a:gd name="adj" fmla="val 50000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3" name="Text 1"/>
          <p:cNvSpPr/>
          <p:nvPr/>
        </p:nvSpPr>
        <p:spPr>
          <a:xfrm>
            <a:off x="952467" y="762000"/>
            <a:ext cx="10595678" cy="203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b="1" kern="0" spc="75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12767" y="1118028"/>
            <a:ext cx="10883460" cy="4635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3000" dirty="0">
                <a:solidFill>
                  <a:srgbClr val="16313A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Directions for further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123318" y="1982181"/>
            <a:ext cx="2767195" cy="1670186"/>
          </a:xfrm>
          <a:prstGeom prst="roundRect">
            <a:avLst>
              <a:gd name="adj" fmla="val 6125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1339201" y="2526811"/>
            <a:ext cx="2301146" cy="290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Richer text integration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39201" y="2880755"/>
            <a:ext cx="2145871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1660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Beyond one scalar score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91969" y="1944131"/>
            <a:ext cx="2882024" cy="1708236"/>
          </a:xfrm>
          <a:prstGeom prst="roundRect">
            <a:avLst>
              <a:gd name="adj" fmla="val 6125"/>
            </a:avLst>
          </a:prstGeom>
          <a:solidFill>
            <a:srgbClr val="E9F6F4"/>
          </a:solidFill>
          <a:ln/>
        </p:spPr>
        <p:txBody>
          <a:bodyPr/>
          <a:lstStyle/>
          <a:p>
            <a:endParaRPr lang="en-IL"/>
          </a:p>
        </p:txBody>
      </p:sp>
      <p:sp>
        <p:nvSpPr>
          <p:cNvPr id="9" name="Text 7"/>
          <p:cNvSpPr/>
          <p:nvPr/>
        </p:nvSpPr>
        <p:spPr>
          <a:xfrm>
            <a:off x="4873349" y="2488761"/>
            <a:ext cx="2364216" cy="328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Hebrew Transformer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07852" y="2880755"/>
            <a:ext cx="2364217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1660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Domain-adapted, GPU-trained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185000" y="2533125"/>
            <a:ext cx="2668742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500" b="1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Subgroup-specific thresholds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59332" y="2880755"/>
            <a:ext cx="2133907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660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Especially thoracic surgery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47827" y="4761118"/>
            <a:ext cx="230114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Prospective evaluation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56453" y="5093829"/>
            <a:ext cx="2145871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1660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newly admitted patients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83895" y="4761118"/>
            <a:ext cx="191564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Dynamic risk model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83895" y="5081097"/>
            <a:ext cx="185525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dirty="0">
                <a:solidFill>
                  <a:srgbClr val="1660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Continuously updating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76584" y="4761118"/>
            <a:ext cx="3087235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Hospital dashboard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76584" y="5093829"/>
            <a:ext cx="3087235" cy="2564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6605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Surface score in workflow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06383" y="6289142"/>
            <a:ext cx="23369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8FA3A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0">
            <a:extLst>
              <a:ext uri="{FF2B5EF4-FFF2-40B4-BE49-F238E27FC236}">
                <a16:creationId xmlns:a16="http://schemas.microsoft.com/office/drawing/2014/main" id="{A2ED6DC7-703B-5EF7-4AED-7716688C0868}"/>
              </a:ext>
            </a:extLst>
          </p:cNvPr>
          <p:cNvSpPr/>
          <p:nvPr/>
        </p:nvSpPr>
        <p:spPr>
          <a:xfrm>
            <a:off x="-2" y="0"/>
            <a:ext cx="483081" cy="6858000"/>
          </a:xfrm>
          <a:prstGeom prst="rect">
            <a:avLst/>
          </a:prstGeom>
          <a:solidFill>
            <a:srgbClr val="A8DCD5"/>
          </a:solidFill>
          <a:ln/>
        </p:spPr>
        <p:txBody>
          <a:bodyPr/>
          <a:lstStyle/>
          <a:p>
            <a:endParaRPr lang="en-IL"/>
          </a:p>
        </p:txBody>
      </p:sp>
      <p:pic>
        <p:nvPicPr>
          <p:cNvPr id="3" name="Image 0" descr="Holon Institute of Technology logo"/>
          <p:cNvPicPr>
            <a:picLocks noChangeAspect="1"/>
          </p:cNvPicPr>
          <p:nvPr/>
        </p:nvPicPr>
        <p:blipFill>
          <a:blip r:embed="rId3"/>
          <a:srcRect l="-254" r="-254"/>
          <a:stretch/>
        </p:blipFill>
        <p:spPr>
          <a:xfrm>
            <a:off x="10121966" y="469881"/>
            <a:ext cx="1460500" cy="895284"/>
          </a:xfrm>
          <a:prstGeom prst="rect">
            <a:avLst/>
          </a:prstGeom>
        </p:spPr>
      </p:pic>
      <p:pic>
        <p:nvPicPr>
          <p:cNvPr id="4" name="Image 1" descr="Assuta Ramat HaHayal Medical Center logo"/>
          <p:cNvPicPr>
            <a:picLocks noChangeAspect="1"/>
          </p:cNvPicPr>
          <p:nvPr/>
        </p:nvPicPr>
        <p:blipFill>
          <a:blip r:embed="rId4"/>
          <a:srcRect t="-56" b="-56"/>
          <a:stretch/>
        </p:blipFill>
        <p:spPr>
          <a:xfrm>
            <a:off x="9867966" y="1517551"/>
            <a:ext cx="1714500" cy="330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473" y="1643597"/>
            <a:ext cx="5011950" cy="668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5060"/>
              </a:lnSpc>
              <a:buNone/>
            </a:pPr>
            <a:r>
              <a:rPr lang="en-US" sz="6600" b="1" kern="0" spc="75" dirty="0">
                <a:solidFill>
                  <a:srgbClr val="0F6E69"/>
                </a:solidFill>
                <a:latin typeface="IBM Plex Sans" pitchFamily="34" charset="0"/>
              </a:rPr>
              <a:t>Thank you!</a:t>
            </a:r>
          </a:p>
        </p:txBody>
      </p:sp>
      <p:sp>
        <p:nvSpPr>
          <p:cNvPr id="8" name="Text 4"/>
          <p:cNvSpPr/>
          <p:nvPr/>
        </p:nvSpPr>
        <p:spPr>
          <a:xfrm>
            <a:off x="612474" y="3735664"/>
            <a:ext cx="7944930" cy="842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ts val="2520"/>
              </a:lnSpc>
            </a:pPr>
            <a:r>
              <a:rPr lang="en-US" sz="3000" b="1" kern="0" spc="75" dirty="0">
                <a:latin typeface="IBM Plex Sans" pitchFamily="34" charset="0"/>
              </a:rPr>
              <a:t>Tal </a:t>
            </a:r>
            <a:r>
              <a:rPr lang="en-US" sz="3000" b="1" kern="0" spc="75" dirty="0" err="1">
                <a:latin typeface="IBM Plex Sans" pitchFamily="34" charset="0"/>
              </a:rPr>
              <a:t>Meillet</a:t>
            </a:r>
            <a:r>
              <a:rPr lang="en-US" sz="3000" b="1" kern="0" spc="75" dirty="0">
                <a:latin typeface="IBM Plex Sans" pitchFamily="34" charset="0"/>
              </a:rPr>
              <a:t>  &amp;  Hodaya </a:t>
            </a:r>
            <a:r>
              <a:rPr lang="en-US" sz="3000" b="1" kern="0" spc="75" dirty="0" err="1">
                <a:latin typeface="IBM Plex Sans" pitchFamily="34" charset="0"/>
              </a:rPr>
              <a:t>Yasayev</a:t>
            </a:r>
            <a:r>
              <a:rPr lang="en-US" sz="3000" b="1" kern="0" spc="75" dirty="0">
                <a:latin typeface="IBM Plex Sans" pitchFamily="34" charset="0"/>
              </a:rPr>
              <a:t> </a:t>
            </a:r>
            <a:r>
              <a:rPr lang="en-US" sz="3000" b="1" kern="0" spc="75" dirty="0" err="1">
                <a:latin typeface="IBM Plex Sans" pitchFamily="34" charset="0"/>
              </a:rPr>
              <a:t>Klenter</a:t>
            </a:r>
            <a:endParaRPr lang="en-US" sz="3000" b="1" kern="0" spc="75" dirty="0">
              <a:latin typeface="IBM Plex Sans" pitchFamily="34" charset="0"/>
            </a:endParaRPr>
          </a:p>
          <a:p>
            <a:pPr>
              <a:lnSpc>
                <a:spcPts val="2520"/>
              </a:lnSpc>
            </a:pPr>
            <a:r>
              <a:rPr lang="en-US" sz="1700" kern="0" spc="75" dirty="0">
                <a:solidFill>
                  <a:srgbClr val="0F6E69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B.Sc.  Digital Medical Technologies, Holon Institute of Technology</a:t>
            </a:r>
            <a:endParaRPr lang="en-US" sz="1700" dirty="0"/>
          </a:p>
          <a:p>
            <a:pPr>
              <a:lnSpc>
                <a:spcPts val="2520"/>
              </a:lnSpc>
            </a:pPr>
            <a:endParaRPr lang="en-US" sz="2800" dirty="0">
              <a:latin typeface="Source Serif 4"/>
            </a:endParaRPr>
          </a:p>
          <a:p>
            <a:pPr>
              <a:lnSpc>
                <a:spcPts val="2520"/>
              </a:lnSpc>
            </a:pPr>
            <a:endParaRPr lang="en-US" sz="3200" dirty="0">
              <a:latin typeface="Source Serif 4"/>
            </a:endParaRPr>
          </a:p>
        </p:txBody>
      </p:sp>
      <p:sp>
        <p:nvSpPr>
          <p:cNvPr id="35" name="Text 15">
            <a:extLst>
              <a:ext uri="{FF2B5EF4-FFF2-40B4-BE49-F238E27FC236}">
                <a16:creationId xmlns:a16="http://schemas.microsoft.com/office/drawing/2014/main" id="{32B8E2E7-B110-7AD0-D5F8-F06CD99EB97E}"/>
              </a:ext>
            </a:extLst>
          </p:cNvPr>
          <p:cNvSpPr/>
          <p:nvPr/>
        </p:nvSpPr>
        <p:spPr>
          <a:xfrm>
            <a:off x="612474" y="4935005"/>
            <a:ext cx="6685767" cy="1033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r>
              <a:rPr lang="en-IL" sz="1600" kern="0" spc="75" dirty="0">
                <a:latin typeface="IBM Plex Sans" pitchFamily="34" charset="0"/>
              </a:rPr>
              <a:t>Special thanks to:</a:t>
            </a:r>
          </a:p>
          <a:p>
            <a:pPr lvl="0"/>
            <a:r>
              <a:rPr lang="en-IL" sz="1600" kern="0" spc="75" dirty="0">
                <a:latin typeface="IBM Plex Sans" pitchFamily="34" charset="0"/>
              </a:rPr>
              <a:t>Dr. Manor </a:t>
            </a:r>
            <a:r>
              <a:rPr lang="en-IL" sz="1600" kern="0" spc="75" dirty="0" err="1">
                <a:latin typeface="IBM Plex Sans" pitchFamily="34" charset="0"/>
              </a:rPr>
              <a:t>Shpriz</a:t>
            </a:r>
            <a:r>
              <a:rPr lang="he-IL" sz="1600" kern="0" spc="75" dirty="0">
                <a:latin typeface="IBM Plex Sans" pitchFamily="34" charset="0"/>
              </a:rPr>
              <a:t>-</a:t>
            </a:r>
            <a:r>
              <a:rPr lang="en-IL" sz="1600" kern="0" spc="75" dirty="0">
                <a:latin typeface="IBM Plex Sans" pitchFamily="34" charset="0"/>
              </a:rPr>
              <a:t> Clinical Supervisor, </a:t>
            </a:r>
            <a:r>
              <a:rPr lang="en-IL" sz="1600" kern="0" spc="75" dirty="0" err="1">
                <a:latin typeface="IBM Plex Sans" pitchFamily="34" charset="0"/>
              </a:rPr>
              <a:t>Assuta</a:t>
            </a:r>
            <a:r>
              <a:rPr lang="en-IL" sz="1600" kern="0" spc="75" dirty="0">
                <a:latin typeface="IBM Plex Sans" pitchFamily="34" charset="0"/>
              </a:rPr>
              <a:t> Ramat </a:t>
            </a:r>
            <a:r>
              <a:rPr lang="en-IL" sz="1600" kern="0" spc="75" dirty="0" err="1">
                <a:latin typeface="IBM Plex Sans" pitchFamily="34" charset="0"/>
              </a:rPr>
              <a:t>HaHayal</a:t>
            </a:r>
            <a:endParaRPr lang="en-IL" sz="1600" kern="0" spc="75" dirty="0">
              <a:latin typeface="IBM Plex Sans" pitchFamily="34" charset="0"/>
            </a:endParaRPr>
          </a:p>
          <a:p>
            <a:pPr lvl="0"/>
            <a:r>
              <a:rPr lang="en-IL" sz="1600" kern="0" spc="75" dirty="0">
                <a:latin typeface="IBM Plex Sans" pitchFamily="34" charset="0"/>
              </a:rPr>
              <a:t>Galina</a:t>
            </a:r>
            <a:r>
              <a:rPr lang="he-IL" sz="1600" kern="0" spc="75" dirty="0">
                <a:latin typeface="IBM Plex Sans" pitchFamily="34" charset="0"/>
              </a:rPr>
              <a:t>-</a:t>
            </a:r>
            <a:r>
              <a:rPr lang="en-IL" sz="1600" kern="0" spc="75" dirty="0">
                <a:latin typeface="IBM Plex Sans" pitchFamily="34" charset="0"/>
              </a:rPr>
              <a:t> Infection Control Nurse, </a:t>
            </a:r>
            <a:r>
              <a:rPr lang="en-IL" sz="1600" kern="0" spc="75" dirty="0" err="1">
                <a:latin typeface="IBM Plex Sans" pitchFamily="34" charset="0"/>
              </a:rPr>
              <a:t>Assuta</a:t>
            </a:r>
            <a:r>
              <a:rPr lang="en-IL" sz="1600" kern="0" spc="75" dirty="0">
                <a:latin typeface="IBM Plex Sans" pitchFamily="34" charset="0"/>
              </a:rPr>
              <a:t> Ramat </a:t>
            </a:r>
            <a:r>
              <a:rPr lang="en-IL" sz="1600" kern="0" spc="75" dirty="0" err="1">
                <a:latin typeface="IBM Plex Sans" pitchFamily="34" charset="0"/>
              </a:rPr>
              <a:t>HaHayal</a:t>
            </a:r>
            <a:r>
              <a:rPr lang="en-IL" sz="1600" kern="0" spc="75" dirty="0">
                <a:latin typeface="IBM Plex Sans" pitchFamily="34" charset="0"/>
              </a:rPr>
              <a:t> </a:t>
            </a:r>
          </a:p>
          <a:p>
            <a:pPr lvl="0"/>
            <a:r>
              <a:rPr lang="en-IL" sz="1600" kern="0" spc="75" dirty="0">
                <a:latin typeface="IBM Plex Sans" pitchFamily="34" charset="0"/>
              </a:rPr>
              <a:t>David Falka</a:t>
            </a:r>
            <a:r>
              <a:rPr lang="he-IL" sz="1600" kern="0" spc="75" dirty="0">
                <a:latin typeface="IBM Plex Sans" pitchFamily="34" charset="0"/>
              </a:rPr>
              <a:t>-</a:t>
            </a:r>
            <a:r>
              <a:rPr lang="en-IL" sz="1600" kern="0" spc="75" dirty="0">
                <a:latin typeface="IBM Plex Sans" pitchFamily="34" charset="0"/>
              </a:rPr>
              <a:t> System Team, Information Systems Division</a:t>
            </a:r>
            <a:r>
              <a:rPr lang="en-US" sz="1600" kern="0" spc="75" dirty="0">
                <a:latin typeface="IBM Plex Sans" pitchFamily="34" charset="0"/>
              </a:rPr>
              <a:t>,</a:t>
            </a:r>
            <a:r>
              <a:rPr lang="en-IL" sz="1600" kern="0" spc="75" dirty="0">
                <a:latin typeface="IBM Plex Sans" pitchFamily="34" charset="0"/>
              </a:rPr>
              <a:t> </a:t>
            </a:r>
            <a:r>
              <a:rPr lang="en-IL" sz="1600" kern="0" spc="75" dirty="0" err="1">
                <a:latin typeface="IBM Plex Sans" pitchFamily="34" charset="0"/>
              </a:rPr>
              <a:t>Assuta</a:t>
            </a:r>
            <a:endParaRPr lang="en-IL" sz="1600" kern="0" spc="75" dirty="0">
              <a:latin typeface="IBM Plex Sans" pitchFamily="34" charset="0"/>
            </a:endParaRPr>
          </a:p>
          <a:p>
            <a:pPr marL="0" indent="0" algn="l">
              <a:lnSpc>
                <a:spcPts val="1680"/>
              </a:lnSpc>
              <a:buNone/>
            </a:pPr>
            <a:endParaRPr lang="en-US" dirty="0">
              <a:latin typeface="Source Serif 4"/>
            </a:endParaRPr>
          </a:p>
        </p:txBody>
      </p:sp>
      <p:sp>
        <p:nvSpPr>
          <p:cNvPr id="41" name="Shape 3">
            <a:extLst>
              <a:ext uri="{FF2B5EF4-FFF2-40B4-BE49-F238E27FC236}">
                <a16:creationId xmlns:a16="http://schemas.microsoft.com/office/drawing/2014/main" id="{DC3EA297-AD45-31D9-E4F3-568B726A388F}"/>
              </a:ext>
            </a:extLst>
          </p:cNvPr>
          <p:cNvSpPr/>
          <p:nvPr/>
        </p:nvSpPr>
        <p:spPr>
          <a:xfrm>
            <a:off x="640244" y="3221420"/>
            <a:ext cx="3276151" cy="0"/>
          </a:xfrm>
          <a:prstGeom prst="line">
            <a:avLst/>
          </a:prstGeom>
          <a:noFill/>
          <a:ln w="6350">
            <a:solidFill>
              <a:srgbClr val="1A8F8A"/>
            </a:solidFill>
            <a:prstDash val="solid"/>
          </a:ln>
        </p:spPr>
        <p:txBody>
          <a:bodyPr/>
          <a:lstStyle/>
          <a:p>
            <a:endParaRPr lang="en-IL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1457</Words>
  <Application>Microsoft Office PowerPoint</Application>
  <PresentationFormat>Widescreen</PresentationFormat>
  <Paragraphs>201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IBM Plex Sans</vt:lpstr>
      <vt:lpstr>Source Serif 4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Surgical-Site Infection — Defense Presentation</dc:title>
  <dc:subject>PptxGenJS Presentation</dc:subject>
  <dc:creator>PptxGenJS</dc:creator>
  <cp:lastModifiedBy>הודיה קלנטר</cp:lastModifiedBy>
  <cp:revision>10</cp:revision>
  <dcterms:created xsi:type="dcterms:W3CDTF">2026-09-17T14:05:30Z</dcterms:created>
  <dcterms:modified xsi:type="dcterms:W3CDTF">2026-09-17T18:54:52Z</dcterms:modified>
</cp:coreProperties>
</file>